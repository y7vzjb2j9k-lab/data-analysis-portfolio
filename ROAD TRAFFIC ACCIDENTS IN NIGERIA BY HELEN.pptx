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969" autoAdjust="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1610BF-741C-43F2-B023-9AE70F6FB6E1}"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4185942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1610BF-741C-43F2-B023-9AE70F6FB6E1}"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232173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1610BF-741C-43F2-B023-9AE70F6FB6E1}"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3979076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1504167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1610BF-741C-43F2-B023-9AE70F6FB6E1}" type="datetimeFigureOut">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163408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1610BF-741C-43F2-B023-9AE70F6FB6E1}"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358626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21610BF-741C-43F2-B023-9AE70F6FB6E1}" type="datetimeFigureOut">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539735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178617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294041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2439859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771710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AE0C6673-893A-43C2-82EE-6DB24168BFF9}"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272321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1610BF-741C-43F2-B023-9AE70F6FB6E1}"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1620296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21610BF-741C-43F2-B023-9AE70F6FB6E1}"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3378800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21610BF-741C-43F2-B023-9AE70F6FB6E1}"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106508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1610BF-741C-43F2-B023-9AE70F6FB6E1}"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C6673-893A-43C2-82EE-6DB24168BFF9}" type="slidenum">
              <a:rPr lang="en-US" smtClean="0"/>
              <a:t>‹#›</a:t>
            </a:fld>
            <a:endParaRPr lang="en-US"/>
          </a:p>
        </p:txBody>
      </p:sp>
    </p:spTree>
    <p:extLst>
      <p:ext uri="{BB962C8B-B14F-4D97-AF65-F5344CB8AC3E}">
        <p14:creationId xmlns:p14="http://schemas.microsoft.com/office/powerpoint/2010/main" val="38932390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421610BF-741C-43F2-B023-9AE70F6FB6E1}" type="datetimeFigureOut">
              <a:rPr lang="en-US" smtClean="0"/>
              <a:t>10/31/2025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AE0C6673-893A-43C2-82EE-6DB24168BFF9}" type="slidenum">
              <a:rPr lang="en-US" smtClean="0"/>
              <a:t>‹#›</a:t>
            </a:fld>
            <a:endParaRPr lang="en-US"/>
          </a:p>
        </p:txBody>
      </p:sp>
    </p:spTree>
    <p:extLst>
      <p:ext uri="{BB962C8B-B14F-4D97-AF65-F5344CB8AC3E}">
        <p14:creationId xmlns:p14="http://schemas.microsoft.com/office/powerpoint/2010/main" val="4152283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21610BF-741C-43F2-B023-9AE70F6FB6E1}" type="datetimeFigureOut">
              <a:rPr lang="en-US" smtClean="0"/>
              <a:t>10/31/2025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AE0C6673-893A-43C2-82EE-6DB24168BFF9}" type="slidenum">
              <a:rPr lang="en-US" smtClean="0"/>
              <a:t>‹#›</a:t>
            </a:fld>
            <a:endParaRPr lang="en-US"/>
          </a:p>
        </p:txBody>
      </p:sp>
    </p:spTree>
    <p:extLst>
      <p:ext uri="{BB962C8B-B14F-4D97-AF65-F5344CB8AC3E}">
        <p14:creationId xmlns:p14="http://schemas.microsoft.com/office/powerpoint/2010/main" val="119998279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74181-1E03-A298-2660-49CB42208CA6}"/>
              </a:ext>
            </a:extLst>
          </p:cNvPr>
          <p:cNvSpPr>
            <a:spLocks noGrp="1"/>
          </p:cNvSpPr>
          <p:nvPr>
            <p:ph type="ctrTitle"/>
          </p:nvPr>
        </p:nvSpPr>
        <p:spPr>
          <a:xfrm>
            <a:off x="1524000" y="-149902"/>
            <a:ext cx="9144000" cy="3659865"/>
          </a:xfrm>
        </p:spPr>
        <p:txBody>
          <a:bodyPr>
            <a:normAutofit/>
          </a:bodyPr>
          <a:lstStyle/>
          <a:p>
            <a:r>
              <a:rPr lang="en-US" sz="3600" b="1" dirty="0"/>
              <a:t>ROAD TRAFFIC ACCIDENTS IN NIGERIA: DATA-DRIVEN PUBLIC AWARENESS PROJECT</a:t>
            </a:r>
            <a:br>
              <a:rPr lang="en-US" sz="3600" b="1" dirty="0"/>
            </a:br>
            <a:br>
              <a:rPr lang="en-US" sz="3600" b="1" dirty="0"/>
            </a:br>
            <a:r>
              <a:rPr lang="en-US" sz="3600" b="1" dirty="0"/>
              <a:t>BY</a:t>
            </a:r>
            <a:br>
              <a:rPr lang="en-US" sz="3600" b="1" dirty="0"/>
            </a:br>
            <a:br>
              <a:rPr lang="en-US" sz="3600" b="1" dirty="0"/>
            </a:br>
            <a:r>
              <a:rPr lang="en-US" sz="3600" b="1" dirty="0"/>
              <a:t>HELEN OREOLUWA MEDASE </a:t>
            </a:r>
          </a:p>
        </p:txBody>
      </p:sp>
      <p:sp>
        <p:nvSpPr>
          <p:cNvPr id="3" name="Subtitle 2">
            <a:extLst>
              <a:ext uri="{FF2B5EF4-FFF2-40B4-BE49-F238E27FC236}">
                <a16:creationId xmlns:a16="http://schemas.microsoft.com/office/drawing/2014/main" id="{E70897F8-0796-D0AF-EE70-17C9F35CCD57}"/>
              </a:ext>
            </a:extLst>
          </p:cNvPr>
          <p:cNvSpPr>
            <a:spLocks noGrp="1"/>
          </p:cNvSpPr>
          <p:nvPr>
            <p:ph type="subTitle" idx="1"/>
          </p:nvPr>
        </p:nvSpPr>
        <p:spPr/>
        <p:txBody>
          <a:bodyPr/>
          <a:lstStyle/>
          <a:p>
            <a:r>
              <a:rPr lang="en-US" dirty="0"/>
              <a:t>AN ANALYSIS USING SQL AND POWER BI</a:t>
            </a:r>
          </a:p>
        </p:txBody>
      </p:sp>
      <p:pic>
        <p:nvPicPr>
          <p:cNvPr id="9" name="Picture 8">
            <a:extLst>
              <a:ext uri="{FF2B5EF4-FFF2-40B4-BE49-F238E27FC236}">
                <a16:creationId xmlns:a16="http://schemas.microsoft.com/office/drawing/2014/main" id="{324537F2-3773-ED00-48DF-5A917F03C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73" y="1"/>
            <a:ext cx="2294744" cy="1618937"/>
          </a:xfrm>
          <a:prstGeom prst="rect">
            <a:avLst/>
          </a:prstGeom>
        </p:spPr>
      </p:pic>
    </p:spTree>
    <p:extLst>
      <p:ext uri="{BB962C8B-B14F-4D97-AF65-F5344CB8AC3E}">
        <p14:creationId xmlns:p14="http://schemas.microsoft.com/office/powerpoint/2010/main" val="1160969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5C03D-12F3-D621-A994-2B28CF22AC4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14D9CF0-9772-5204-F192-5398BD653FB8}"/>
              </a:ext>
            </a:extLst>
          </p:cNvPr>
          <p:cNvSpPr>
            <a:spLocks noGrp="1"/>
          </p:cNvSpPr>
          <p:nvPr>
            <p:ph idx="1"/>
          </p:nvPr>
        </p:nvSpPr>
        <p:spPr/>
        <p:txBody>
          <a:bodyPr/>
          <a:lstStyle/>
          <a:p>
            <a:r>
              <a:rPr lang="en-US" dirty="0"/>
              <a:t>Road traffic accidents remain a major concern in Nigeria, causing significant loss of lives and economic damage. This project aims to analyze available data to uncover trends and pattern that contribute to the high accident rate. </a:t>
            </a:r>
          </a:p>
          <a:p>
            <a:r>
              <a:rPr lang="en-US" dirty="0"/>
              <a:t>The goal is to create public awareness dashboard that highlights key insights and promotes data-informed decisions for improving road safety.</a:t>
            </a:r>
          </a:p>
        </p:txBody>
      </p:sp>
    </p:spTree>
    <p:extLst>
      <p:ext uri="{BB962C8B-B14F-4D97-AF65-F5344CB8AC3E}">
        <p14:creationId xmlns:p14="http://schemas.microsoft.com/office/powerpoint/2010/main" val="2347847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D5B85-430C-D095-F2D7-192FCAEC4CCA}"/>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D8C393CE-BCA7-ECD1-F11A-7914E68EBFC9}"/>
              </a:ext>
            </a:extLst>
          </p:cNvPr>
          <p:cNvSpPr>
            <a:spLocks noGrp="1"/>
          </p:cNvSpPr>
          <p:nvPr>
            <p:ph idx="1"/>
          </p:nvPr>
        </p:nvSpPr>
        <p:spPr>
          <a:xfrm>
            <a:off x="680321" y="2098622"/>
            <a:ext cx="9613861" cy="4759377"/>
          </a:xfrm>
        </p:spPr>
        <p:txBody>
          <a:bodyPr>
            <a:normAutofit lnSpcReduction="10000"/>
          </a:bodyPr>
          <a:lstStyle/>
          <a:p>
            <a:r>
              <a:rPr lang="en-US" dirty="0"/>
              <a:t>Main Objective: To analyze and visualize road traffic accident data in Nigeria in order to identify trends and patterns that can help raise public awareness and support road safety initiatives.</a:t>
            </a:r>
          </a:p>
          <a:p>
            <a:endParaRPr lang="en-US" dirty="0"/>
          </a:p>
          <a:p>
            <a:r>
              <a:rPr lang="en-US" dirty="0"/>
              <a:t>Specific Objectives;</a:t>
            </a:r>
          </a:p>
          <a:p>
            <a:r>
              <a:rPr lang="en-US" dirty="0"/>
              <a:t>To clean and prepare the dataset for analysis using Power query in Power BI</a:t>
            </a:r>
          </a:p>
          <a:p>
            <a:r>
              <a:rPr lang="en-US" dirty="0"/>
              <a:t>To explore and analyze accident patterns using SQL</a:t>
            </a:r>
          </a:p>
          <a:p>
            <a:r>
              <a:rPr lang="en-US" dirty="0"/>
              <a:t>To visualize key insights, identify high-risk locations on Power BI dashboards for better understanding</a:t>
            </a:r>
          </a:p>
          <a:p>
            <a:r>
              <a:rPr lang="en-US" dirty="0"/>
              <a:t>To provide data-driven recommendations for improved road safety awareness</a:t>
            </a:r>
          </a:p>
        </p:txBody>
      </p:sp>
    </p:spTree>
    <p:extLst>
      <p:ext uri="{BB962C8B-B14F-4D97-AF65-F5344CB8AC3E}">
        <p14:creationId xmlns:p14="http://schemas.microsoft.com/office/powerpoint/2010/main" val="2060947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1FA1-5316-15BF-6B5A-CA574D92B7A3}"/>
              </a:ext>
            </a:extLst>
          </p:cNvPr>
          <p:cNvSpPr>
            <a:spLocks noGrp="1"/>
          </p:cNvSpPr>
          <p:nvPr>
            <p:ph type="title"/>
          </p:nvPr>
        </p:nvSpPr>
        <p:spPr/>
        <p:txBody>
          <a:bodyPr/>
          <a:lstStyle/>
          <a:p>
            <a:r>
              <a:rPr lang="en-US" dirty="0"/>
              <a:t>DATASET AND TOOLS USED</a:t>
            </a:r>
          </a:p>
        </p:txBody>
      </p:sp>
      <p:sp>
        <p:nvSpPr>
          <p:cNvPr id="3" name="Content Placeholder 2">
            <a:extLst>
              <a:ext uri="{FF2B5EF4-FFF2-40B4-BE49-F238E27FC236}">
                <a16:creationId xmlns:a16="http://schemas.microsoft.com/office/drawing/2014/main" id="{6EA658F7-FD03-6D9D-EA5A-8FE3B87F884D}"/>
              </a:ext>
            </a:extLst>
          </p:cNvPr>
          <p:cNvSpPr>
            <a:spLocks noGrp="1"/>
          </p:cNvSpPr>
          <p:nvPr>
            <p:ph idx="1"/>
          </p:nvPr>
        </p:nvSpPr>
        <p:spPr>
          <a:xfrm>
            <a:off x="680321" y="2336872"/>
            <a:ext cx="9613861" cy="4521127"/>
          </a:xfrm>
        </p:spPr>
        <p:txBody>
          <a:bodyPr/>
          <a:lstStyle/>
          <a:p>
            <a:r>
              <a:rPr lang="en-US" dirty="0"/>
              <a:t>Dataset description: This dataset used for this project focuses on road traffic accidents in Nigeria from Q4 2020 to Q3 2024. It contains information on accident occurrences, </a:t>
            </a:r>
            <a:r>
              <a:rPr lang="en-US" dirty="0" err="1"/>
              <a:t>causes,vehicle</a:t>
            </a:r>
            <a:r>
              <a:rPr lang="en-US" dirty="0"/>
              <a:t> type, location(States), number of casualties, people involved, people injured, fatal, serious or minor and the time periods. </a:t>
            </a:r>
          </a:p>
          <a:p>
            <a:r>
              <a:rPr lang="en-US" dirty="0"/>
              <a:t>Data source: The dataset was sourced online from NBS(National Bureau of Statistics) and compiled by FRSC. </a:t>
            </a:r>
          </a:p>
          <a:p>
            <a:r>
              <a:rPr lang="en-US" dirty="0"/>
              <a:t>Tools Used;</a:t>
            </a:r>
          </a:p>
          <a:p>
            <a:r>
              <a:rPr lang="en-US" dirty="0"/>
              <a:t>SQL for Data exploration and analysis through queries</a:t>
            </a:r>
          </a:p>
          <a:p>
            <a:r>
              <a:rPr lang="en-US" dirty="0"/>
              <a:t>Power BI for Data visualization and interactive dashboard creation  </a:t>
            </a:r>
          </a:p>
        </p:txBody>
      </p:sp>
    </p:spTree>
    <p:extLst>
      <p:ext uri="{BB962C8B-B14F-4D97-AF65-F5344CB8AC3E}">
        <p14:creationId xmlns:p14="http://schemas.microsoft.com/office/powerpoint/2010/main" val="3666874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44300-3C23-3115-3A42-C24C42392B6E}"/>
              </a:ext>
            </a:extLst>
          </p:cNvPr>
          <p:cNvSpPr>
            <a:spLocks noGrp="1"/>
          </p:cNvSpPr>
          <p:nvPr>
            <p:ph type="title"/>
          </p:nvPr>
        </p:nvSpPr>
        <p:spPr/>
        <p:txBody>
          <a:bodyPr/>
          <a:lstStyle/>
          <a:p>
            <a:r>
              <a:rPr lang="en-US" dirty="0"/>
              <a:t>INSIGHT AND VISUALIZATION 1</a:t>
            </a:r>
          </a:p>
        </p:txBody>
      </p:sp>
      <p:pic>
        <p:nvPicPr>
          <p:cNvPr id="8" name="Picture Placeholder 7">
            <a:extLst>
              <a:ext uri="{FF2B5EF4-FFF2-40B4-BE49-F238E27FC236}">
                <a16:creationId xmlns:a16="http://schemas.microsoft.com/office/drawing/2014/main" id="{8D2680C2-9621-2B07-86E6-20545071871B}"/>
              </a:ext>
            </a:extLst>
          </p:cNvPr>
          <p:cNvPicPr>
            <a:picLocks noGrp="1" noChangeAspect="1"/>
          </p:cNvPicPr>
          <p:nvPr>
            <p:ph type="pic" idx="1"/>
          </p:nvPr>
        </p:nvPicPr>
        <p:blipFill>
          <a:blip r:embed="rId2"/>
          <a:srcRect t="11807" b="11807"/>
          <a:stretch/>
        </p:blipFill>
        <p:spPr>
          <a:xfrm>
            <a:off x="5231567" y="2577830"/>
            <a:ext cx="5062615" cy="3358356"/>
          </a:xfrm>
          <a:prstGeom prst="rect">
            <a:avLst/>
          </a:prstGeom>
          <a:noFill/>
          <a:ln>
            <a:noFill/>
          </a:ln>
          <a:effectLst>
            <a:outerShdw blurRad="76200" dist="63500" dir="5040000" algn="tl" rotWithShape="0">
              <a:srgbClr val="000000">
                <a:alpha val="41000"/>
              </a:srgbClr>
            </a:outerShdw>
          </a:effectLst>
        </p:spPr>
      </p:pic>
      <p:sp>
        <p:nvSpPr>
          <p:cNvPr id="4" name="Text Placeholder 3">
            <a:extLst>
              <a:ext uri="{FF2B5EF4-FFF2-40B4-BE49-F238E27FC236}">
                <a16:creationId xmlns:a16="http://schemas.microsoft.com/office/drawing/2014/main" id="{D3EC0A20-7ECC-63F1-B318-D9F81E20EDA8}"/>
              </a:ext>
            </a:extLst>
          </p:cNvPr>
          <p:cNvSpPr>
            <a:spLocks noGrp="1"/>
          </p:cNvSpPr>
          <p:nvPr>
            <p:ph type="body" sz="half" idx="2"/>
          </p:nvPr>
        </p:nvSpPr>
        <p:spPr/>
        <p:txBody>
          <a:bodyPr>
            <a:normAutofit fontScale="92500" lnSpcReduction="10000"/>
          </a:bodyPr>
          <a:lstStyle/>
          <a:p>
            <a:r>
              <a:rPr lang="en-US" dirty="0"/>
              <a:t>The highest number of accidents in Q3 2024 was Ogun state. The major cause of accidents was SPV(Speed Violation) with 133 cases and LOC(Loss of Control) with 155 case. This is linked together because speed violation can lead to loss of control. This will very likely continue if some measures are not put in place , to curb this effectively;</a:t>
            </a:r>
          </a:p>
          <a:p>
            <a:r>
              <a:rPr lang="en-US" dirty="0"/>
              <a:t>- Implement targeted road safety engineering such as rumble strips, improved signage and better curve design at known blackspots</a:t>
            </a:r>
          </a:p>
          <a:p>
            <a:r>
              <a:rPr lang="en-US" dirty="0"/>
              <a:t> -Authorities should enforce the use of speed limiting devices on commercial vehicles and expand automated speed cameras on major highways.</a:t>
            </a:r>
          </a:p>
        </p:txBody>
      </p:sp>
    </p:spTree>
    <p:extLst>
      <p:ext uri="{BB962C8B-B14F-4D97-AF65-F5344CB8AC3E}">
        <p14:creationId xmlns:p14="http://schemas.microsoft.com/office/powerpoint/2010/main" val="627786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F0D01-B609-4264-F2AA-16FA0A15CB8C}"/>
              </a:ext>
            </a:extLst>
          </p:cNvPr>
          <p:cNvSpPr>
            <a:spLocks noGrp="1"/>
          </p:cNvSpPr>
          <p:nvPr>
            <p:ph type="title"/>
          </p:nvPr>
        </p:nvSpPr>
        <p:spPr/>
        <p:txBody>
          <a:bodyPr/>
          <a:lstStyle/>
          <a:p>
            <a:r>
              <a:rPr lang="en-US" dirty="0"/>
              <a:t>INSIGHT AND VISUALIZATION 2</a:t>
            </a:r>
          </a:p>
        </p:txBody>
      </p:sp>
      <p:pic>
        <p:nvPicPr>
          <p:cNvPr id="8" name="Content Placeholder 7">
            <a:extLst>
              <a:ext uri="{FF2B5EF4-FFF2-40B4-BE49-F238E27FC236}">
                <a16:creationId xmlns:a16="http://schemas.microsoft.com/office/drawing/2014/main" id="{505782A8-C94A-B017-E7F3-22F7599D3D16}"/>
              </a:ext>
            </a:extLst>
          </p:cNvPr>
          <p:cNvPicPr>
            <a:picLocks noGrp="1" noChangeAspect="1"/>
          </p:cNvPicPr>
          <p:nvPr>
            <p:ph sz="half" idx="2"/>
          </p:nvPr>
        </p:nvPicPr>
        <p:blipFill>
          <a:blip r:embed="rId2"/>
          <a:stretch>
            <a:fillRect/>
          </a:stretch>
        </p:blipFill>
        <p:spPr>
          <a:xfrm>
            <a:off x="6565692" y="2488367"/>
            <a:ext cx="3372785" cy="2908092"/>
          </a:xfrm>
          <a:prstGeom prst="rect">
            <a:avLst/>
          </a:prstGeom>
        </p:spPr>
      </p:pic>
      <p:sp>
        <p:nvSpPr>
          <p:cNvPr id="4" name="Content Placeholder 3">
            <a:extLst>
              <a:ext uri="{FF2B5EF4-FFF2-40B4-BE49-F238E27FC236}">
                <a16:creationId xmlns:a16="http://schemas.microsoft.com/office/drawing/2014/main" id="{5A9D6041-025A-2981-E2E8-E6962906287B}"/>
              </a:ext>
            </a:extLst>
          </p:cNvPr>
          <p:cNvSpPr>
            <a:spLocks noGrp="1"/>
          </p:cNvSpPr>
          <p:nvPr>
            <p:ph sz="half" idx="1"/>
          </p:nvPr>
        </p:nvSpPr>
        <p:spPr/>
        <p:txBody>
          <a:bodyPr>
            <a:normAutofit/>
          </a:bodyPr>
          <a:lstStyle/>
          <a:p>
            <a:r>
              <a:rPr lang="en-US" sz="1600" dirty="0"/>
              <a:t>The state with the lowest recorded number of accident in Q3 2024 is Bayelsa with a total number of 5 cases. There was 2 cases of speed violation and 1 case of loss of control, </a:t>
            </a:r>
            <a:r>
              <a:rPr lang="en-US" sz="1600" dirty="0" err="1"/>
              <a:t>tyre</a:t>
            </a:r>
            <a:r>
              <a:rPr lang="en-US" sz="1600" dirty="0"/>
              <a:t> burst, brake failure, dangerous driving, route violation each. Implementing targeted road safety engineering such as rumble strips, improved signage and better curve design at known blackspots will very most likely reduce the number of accidents </a:t>
            </a:r>
            <a:r>
              <a:rPr lang="en-US" sz="1600" dirty="0" err="1"/>
              <a:t>futher</a:t>
            </a:r>
            <a:r>
              <a:rPr lang="en-US" sz="1600" dirty="0"/>
              <a:t>.</a:t>
            </a:r>
          </a:p>
        </p:txBody>
      </p:sp>
    </p:spTree>
    <p:extLst>
      <p:ext uri="{BB962C8B-B14F-4D97-AF65-F5344CB8AC3E}">
        <p14:creationId xmlns:p14="http://schemas.microsoft.com/office/powerpoint/2010/main" val="210852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E559-D206-16C4-46DF-8BA128AC055D}"/>
              </a:ext>
            </a:extLst>
          </p:cNvPr>
          <p:cNvSpPr>
            <a:spLocks noGrp="1"/>
          </p:cNvSpPr>
          <p:nvPr>
            <p:ph type="title"/>
          </p:nvPr>
        </p:nvSpPr>
        <p:spPr/>
        <p:txBody>
          <a:bodyPr/>
          <a:lstStyle/>
          <a:p>
            <a:r>
              <a:rPr lang="en-US" dirty="0"/>
              <a:t>INSIGHT AND VISUALIZATION 3</a:t>
            </a:r>
          </a:p>
        </p:txBody>
      </p:sp>
      <p:pic>
        <p:nvPicPr>
          <p:cNvPr id="6" name="Picture Placeholder 5">
            <a:extLst>
              <a:ext uri="{FF2B5EF4-FFF2-40B4-BE49-F238E27FC236}">
                <a16:creationId xmlns:a16="http://schemas.microsoft.com/office/drawing/2014/main" id="{FFEFE16B-CF56-FDD4-7499-941A5C9BA504}"/>
              </a:ext>
            </a:extLst>
          </p:cNvPr>
          <p:cNvPicPr>
            <a:picLocks noGrp="1" noChangeAspect="1"/>
          </p:cNvPicPr>
          <p:nvPr>
            <p:ph type="pic" idx="1"/>
          </p:nvPr>
        </p:nvPicPr>
        <p:blipFill>
          <a:blip r:embed="rId2"/>
          <a:srcRect l="8035" r="8035"/>
          <a:stretch/>
        </p:blipFill>
        <p:spPr>
          <a:xfrm>
            <a:off x="5487251" y="2223829"/>
            <a:ext cx="6183665" cy="4102020"/>
          </a:xfrm>
          <a:prstGeom prst="rect">
            <a:avLst/>
          </a:prstGeom>
          <a:noFill/>
          <a:ln>
            <a:noFill/>
          </a:ln>
          <a:effectLst>
            <a:outerShdw blurRad="76200" dist="63500" dir="5040000" algn="tl" rotWithShape="0">
              <a:srgbClr val="000000">
                <a:alpha val="41000"/>
              </a:srgbClr>
            </a:outerShdw>
          </a:effectLst>
        </p:spPr>
      </p:pic>
      <p:sp>
        <p:nvSpPr>
          <p:cNvPr id="4" name="Text Placeholder 3">
            <a:extLst>
              <a:ext uri="{FF2B5EF4-FFF2-40B4-BE49-F238E27FC236}">
                <a16:creationId xmlns:a16="http://schemas.microsoft.com/office/drawing/2014/main" id="{D8CA7620-D274-43E4-C05B-ADC23F12C5E7}"/>
              </a:ext>
            </a:extLst>
          </p:cNvPr>
          <p:cNvSpPr>
            <a:spLocks noGrp="1"/>
          </p:cNvSpPr>
          <p:nvPr>
            <p:ph type="body" sz="half" idx="2"/>
          </p:nvPr>
        </p:nvSpPr>
        <p:spPr>
          <a:xfrm>
            <a:off x="680323" y="2083633"/>
            <a:ext cx="3876256" cy="4242216"/>
          </a:xfrm>
        </p:spPr>
        <p:txBody>
          <a:bodyPr>
            <a:normAutofit fontScale="77500" lnSpcReduction="20000"/>
          </a:bodyPr>
          <a:lstStyle/>
          <a:p>
            <a:r>
              <a:rPr lang="en-US" dirty="0"/>
              <a:t>FCT, Ogun, Nasarawa, Kaduna, Oyo are the state with the highest number of total accidents with 5303, 4149, 3211, 3065, 2346 number of cases respectively with commercial transport being the most vehicle category involved in over 60% of the total accidents through the years. The major causative factors are speed violation, sign light violation, wrongful overtaking, dangerous driving, </a:t>
            </a:r>
            <a:r>
              <a:rPr lang="en-US" dirty="0" err="1"/>
              <a:t>tyre</a:t>
            </a:r>
            <a:r>
              <a:rPr lang="en-US" dirty="0"/>
              <a:t> burst, brake failure and road obstruction violation. The  following measures should be used to counter these causative factors;</a:t>
            </a:r>
          </a:p>
          <a:p>
            <a:r>
              <a:rPr lang="en-US" dirty="0"/>
              <a:t>-Speed violation: speed limiters, speed camera, and traffic calming.</a:t>
            </a:r>
          </a:p>
          <a:p>
            <a:r>
              <a:rPr lang="en-US" dirty="0"/>
              <a:t>-Sign/light violation: signal timers, red-light camera, awareness</a:t>
            </a:r>
          </a:p>
          <a:p>
            <a:r>
              <a:rPr lang="en-US" dirty="0"/>
              <a:t>-Wrongful Overtaking: clear markings, no-overtaking zones, driver re-training</a:t>
            </a:r>
          </a:p>
          <a:p>
            <a:r>
              <a:rPr lang="en-US" dirty="0"/>
              <a:t>-Dangerous driving: patrol enforcement, penalty point, defensive driving</a:t>
            </a:r>
          </a:p>
          <a:p>
            <a:r>
              <a:rPr lang="en-US" dirty="0"/>
              <a:t>-</a:t>
            </a:r>
            <a:r>
              <a:rPr lang="en-US" dirty="0" err="1"/>
              <a:t>Tyre</a:t>
            </a:r>
            <a:r>
              <a:rPr lang="en-US" dirty="0"/>
              <a:t> burst: regular inspections, ban used </a:t>
            </a:r>
            <a:r>
              <a:rPr lang="en-US" dirty="0" err="1"/>
              <a:t>tyres</a:t>
            </a:r>
            <a:r>
              <a:rPr lang="en-US" dirty="0"/>
              <a:t>, </a:t>
            </a:r>
            <a:r>
              <a:rPr lang="en-US" dirty="0" err="1"/>
              <a:t>tyre</a:t>
            </a:r>
            <a:r>
              <a:rPr lang="en-US" dirty="0"/>
              <a:t>-care education.</a:t>
            </a:r>
          </a:p>
          <a:p>
            <a:r>
              <a:rPr lang="en-US" dirty="0"/>
              <a:t>-Brake failure: vehicle maintenance checks, inspection centers, load control</a:t>
            </a:r>
          </a:p>
          <a:p>
            <a:r>
              <a:rPr lang="en-US" dirty="0"/>
              <a:t>-Road obstruction: remove illegal parking/trading, clear debris, proper signage </a:t>
            </a:r>
          </a:p>
        </p:txBody>
      </p:sp>
    </p:spTree>
    <p:extLst>
      <p:ext uri="{BB962C8B-B14F-4D97-AF65-F5344CB8AC3E}">
        <p14:creationId xmlns:p14="http://schemas.microsoft.com/office/powerpoint/2010/main" val="1294750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709B2-DA1E-12CD-52EF-E21046FB5298}"/>
              </a:ext>
            </a:extLst>
          </p:cNvPr>
          <p:cNvSpPr>
            <a:spLocks noGrp="1"/>
          </p:cNvSpPr>
          <p:nvPr>
            <p:ph type="title"/>
          </p:nvPr>
        </p:nvSpPr>
        <p:spPr/>
        <p:txBody>
          <a:bodyPr/>
          <a:lstStyle/>
          <a:p>
            <a:r>
              <a:rPr lang="en-US" dirty="0"/>
              <a:t>INSIGHT AND VISUALIZATION 4</a:t>
            </a:r>
          </a:p>
        </p:txBody>
      </p:sp>
      <p:pic>
        <p:nvPicPr>
          <p:cNvPr id="6" name="Content Placeholder 5">
            <a:extLst>
              <a:ext uri="{FF2B5EF4-FFF2-40B4-BE49-F238E27FC236}">
                <a16:creationId xmlns:a16="http://schemas.microsoft.com/office/drawing/2014/main" id="{C42E1C9D-B6F9-30D2-CFE1-853277D380F2}"/>
              </a:ext>
            </a:extLst>
          </p:cNvPr>
          <p:cNvPicPr>
            <a:picLocks noGrp="1" noChangeAspect="1"/>
          </p:cNvPicPr>
          <p:nvPr>
            <p:ph idx="1"/>
          </p:nvPr>
        </p:nvPicPr>
        <p:blipFill>
          <a:blip r:embed="rId2"/>
          <a:stretch>
            <a:fillRect/>
          </a:stretch>
        </p:blipFill>
        <p:spPr>
          <a:xfrm>
            <a:off x="5756222" y="2353595"/>
            <a:ext cx="6142663" cy="4182115"/>
          </a:xfrm>
          <a:prstGeom prst="rect">
            <a:avLst/>
          </a:prstGeom>
        </p:spPr>
      </p:pic>
      <p:sp>
        <p:nvSpPr>
          <p:cNvPr id="4" name="Text Placeholder 3">
            <a:extLst>
              <a:ext uri="{FF2B5EF4-FFF2-40B4-BE49-F238E27FC236}">
                <a16:creationId xmlns:a16="http://schemas.microsoft.com/office/drawing/2014/main" id="{4D3E5008-DD67-5817-D166-89E711CF66EC}"/>
              </a:ext>
            </a:extLst>
          </p:cNvPr>
          <p:cNvSpPr>
            <a:spLocks noGrp="1"/>
          </p:cNvSpPr>
          <p:nvPr>
            <p:ph type="body" sz="half" idx="2"/>
          </p:nvPr>
        </p:nvSpPr>
        <p:spPr/>
        <p:txBody>
          <a:bodyPr>
            <a:normAutofit fontScale="85000" lnSpcReduction="20000"/>
          </a:bodyPr>
          <a:lstStyle/>
          <a:p>
            <a:r>
              <a:rPr lang="en-US" dirty="0"/>
              <a:t>Kaduna state has the highest number of injured people across all state with 12,533 number of injured people and speed violation identified as the major cause of accident through the years. Following Kaduna is FCT, the Federal capital Abuja, with a total number of 9,823 of injured people and Ogun state comes in third with 9,709 of injured people with speed violation being the major causative factor across all states through the years. More FRSC and other road safety officials should be deployed to the major blackspots to implement these following  measures;   </a:t>
            </a:r>
          </a:p>
          <a:p>
            <a:r>
              <a:rPr lang="en-US" dirty="0"/>
              <a:t>-Implement targeted road safety engineering such as rumble strips, improved signage and better curve design at known blackspots</a:t>
            </a:r>
          </a:p>
          <a:p>
            <a:r>
              <a:rPr lang="en-US" dirty="0"/>
              <a:t> -Authorities should enforce the use of speed limiting devices on commercial vehicles and expand automated speed cameras on major highways</a:t>
            </a:r>
          </a:p>
        </p:txBody>
      </p:sp>
    </p:spTree>
    <p:extLst>
      <p:ext uri="{BB962C8B-B14F-4D97-AF65-F5344CB8AC3E}">
        <p14:creationId xmlns:p14="http://schemas.microsoft.com/office/powerpoint/2010/main" val="1637986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1FCF6-F922-FE65-D8EB-D9FA61853078}"/>
              </a:ext>
            </a:extLst>
          </p:cNvPr>
          <p:cNvSpPr>
            <a:spLocks noGrp="1"/>
          </p:cNvSpPr>
          <p:nvPr>
            <p:ph type="title"/>
          </p:nvPr>
        </p:nvSpPr>
        <p:spPr/>
        <p:txBody>
          <a:bodyPr/>
          <a:lstStyle/>
          <a:p>
            <a:r>
              <a:rPr lang="en-US" dirty="0"/>
              <a:t>INSIGHT AND VISUALIZATION 5</a:t>
            </a:r>
          </a:p>
        </p:txBody>
      </p:sp>
      <p:sp>
        <p:nvSpPr>
          <p:cNvPr id="3" name="Content Placeholder 2">
            <a:extLst>
              <a:ext uri="{FF2B5EF4-FFF2-40B4-BE49-F238E27FC236}">
                <a16:creationId xmlns:a16="http://schemas.microsoft.com/office/drawing/2014/main" id="{440F06A0-B0FB-0F66-1FD2-580048D04F8E}"/>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3518D4D0-C7ED-1CC2-B82B-6111DA390CD2}"/>
              </a:ext>
            </a:extLst>
          </p:cNvPr>
          <p:cNvSpPr>
            <a:spLocks noGrp="1"/>
          </p:cNvSpPr>
          <p:nvPr>
            <p:ph type="body" sz="half" idx="2"/>
          </p:nvPr>
        </p:nvSpPr>
        <p:spPr/>
        <p:txBody>
          <a:bodyPr>
            <a:normAutofit fontScale="92500" lnSpcReduction="10000"/>
          </a:bodyPr>
          <a:lstStyle/>
          <a:p>
            <a:r>
              <a:rPr lang="en-US" dirty="0"/>
              <a:t>Kaduna, Ogun, Niger, Bauchi, Oyo, FCT, Kano, Kogi are the states with the highest record of total people killed. Kaduna holds the highest record with 2472 number of people and the remaining states have a record of over 1000 people. Speed violation, wrongful overtaking, </a:t>
            </a:r>
            <a:r>
              <a:rPr lang="en-US" dirty="0" err="1"/>
              <a:t>tyre</a:t>
            </a:r>
            <a:r>
              <a:rPr lang="en-US" dirty="0"/>
              <a:t> burst are the major causes of these accidents in Kaduna through the years. Speed limiters, speed camera, traffic calming, clear markings, no-overtaking zones, driver re-training, regular inspections, ban used </a:t>
            </a:r>
            <a:r>
              <a:rPr lang="en-US" dirty="0" err="1"/>
              <a:t>tyres</a:t>
            </a:r>
            <a:r>
              <a:rPr lang="en-US" dirty="0"/>
              <a:t>, </a:t>
            </a:r>
            <a:r>
              <a:rPr lang="en-US" dirty="0" err="1"/>
              <a:t>tyre</a:t>
            </a:r>
            <a:r>
              <a:rPr lang="en-US" dirty="0"/>
              <a:t>-care education should be put in place and officials should be deployed to enforce these measures and offenders should be punished so these measures are not taken lightly.</a:t>
            </a:r>
          </a:p>
        </p:txBody>
      </p:sp>
      <p:pic>
        <p:nvPicPr>
          <p:cNvPr id="6" name="Picture 5">
            <a:extLst>
              <a:ext uri="{FF2B5EF4-FFF2-40B4-BE49-F238E27FC236}">
                <a16:creationId xmlns:a16="http://schemas.microsoft.com/office/drawing/2014/main" id="{751F9BE5-CBA2-16FD-5AE8-FE086BD7B6F3}"/>
              </a:ext>
            </a:extLst>
          </p:cNvPr>
          <p:cNvPicPr>
            <a:picLocks noChangeAspect="1"/>
          </p:cNvPicPr>
          <p:nvPr/>
        </p:nvPicPr>
        <p:blipFill>
          <a:blip r:embed="rId2"/>
          <a:stretch>
            <a:fillRect/>
          </a:stretch>
        </p:blipFill>
        <p:spPr>
          <a:xfrm>
            <a:off x="4685846" y="2243183"/>
            <a:ext cx="6825832" cy="4213850"/>
          </a:xfrm>
          <a:prstGeom prst="rect">
            <a:avLst/>
          </a:prstGeom>
        </p:spPr>
      </p:pic>
    </p:spTree>
    <p:extLst>
      <p:ext uri="{BB962C8B-B14F-4D97-AF65-F5344CB8AC3E}">
        <p14:creationId xmlns:p14="http://schemas.microsoft.com/office/powerpoint/2010/main" val="2339970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288D-B34F-383E-45AD-EB68CCBBC01B}"/>
              </a:ext>
            </a:extLst>
          </p:cNvPr>
          <p:cNvSpPr>
            <a:spLocks noGrp="1"/>
          </p:cNvSpPr>
          <p:nvPr>
            <p:ph type="title"/>
          </p:nvPr>
        </p:nvSpPr>
        <p:spPr/>
        <p:txBody>
          <a:bodyPr/>
          <a:lstStyle/>
          <a:p>
            <a:r>
              <a:rPr lang="en-US" dirty="0"/>
              <a:t>INSIGHT AND VISUALIZATION 6</a:t>
            </a:r>
          </a:p>
        </p:txBody>
      </p:sp>
      <p:pic>
        <p:nvPicPr>
          <p:cNvPr id="6" name="Content Placeholder 5">
            <a:extLst>
              <a:ext uri="{FF2B5EF4-FFF2-40B4-BE49-F238E27FC236}">
                <a16:creationId xmlns:a16="http://schemas.microsoft.com/office/drawing/2014/main" id="{F3B6454B-B1D0-EC25-307A-F35DDFF602E7}"/>
              </a:ext>
            </a:extLst>
          </p:cNvPr>
          <p:cNvPicPr>
            <a:picLocks noGrp="1" noChangeAspect="1"/>
          </p:cNvPicPr>
          <p:nvPr>
            <p:ph idx="1"/>
          </p:nvPr>
        </p:nvPicPr>
        <p:blipFill>
          <a:blip r:embed="rId2"/>
          <a:stretch>
            <a:fillRect/>
          </a:stretch>
        </p:blipFill>
        <p:spPr>
          <a:xfrm>
            <a:off x="5750601" y="2336872"/>
            <a:ext cx="6151589" cy="4046136"/>
          </a:xfrm>
          <a:prstGeom prst="rect">
            <a:avLst/>
          </a:prstGeom>
        </p:spPr>
      </p:pic>
      <p:sp>
        <p:nvSpPr>
          <p:cNvPr id="4" name="Text Placeholder 3">
            <a:extLst>
              <a:ext uri="{FF2B5EF4-FFF2-40B4-BE49-F238E27FC236}">
                <a16:creationId xmlns:a16="http://schemas.microsoft.com/office/drawing/2014/main" id="{E1ADF449-2561-095C-8759-0028C7331596}"/>
              </a:ext>
            </a:extLst>
          </p:cNvPr>
          <p:cNvSpPr>
            <a:spLocks noGrp="1"/>
          </p:cNvSpPr>
          <p:nvPr>
            <p:ph type="body" sz="half" idx="2"/>
          </p:nvPr>
        </p:nvSpPr>
        <p:spPr/>
        <p:txBody>
          <a:bodyPr>
            <a:normAutofit fontScale="85000" lnSpcReduction="20000"/>
          </a:bodyPr>
          <a:lstStyle/>
          <a:p>
            <a:r>
              <a:rPr lang="en-US" dirty="0"/>
              <a:t>Fatal, serious and minor relates to severity of injuries sustained from accidents. </a:t>
            </a:r>
          </a:p>
          <a:p>
            <a:r>
              <a:rPr lang="en-US" dirty="0"/>
              <a:t>Fatal: Accidents that resulted in at least one death.</a:t>
            </a:r>
          </a:p>
          <a:p>
            <a:r>
              <a:rPr lang="en-US" dirty="0"/>
              <a:t>Serious: Accidents that caused major injuries </a:t>
            </a:r>
            <a:r>
              <a:rPr lang="en-US" dirty="0" err="1"/>
              <a:t>e.g</a:t>
            </a:r>
            <a:r>
              <a:rPr lang="en-US" dirty="0"/>
              <a:t> fractures, head injuries, hospitalization, etc.</a:t>
            </a:r>
          </a:p>
          <a:p>
            <a:r>
              <a:rPr lang="en-US" dirty="0"/>
              <a:t>Minor: Accidents that led to non-life-threatening injuries </a:t>
            </a:r>
            <a:r>
              <a:rPr lang="en-US" dirty="0" err="1"/>
              <a:t>e.g</a:t>
            </a:r>
            <a:r>
              <a:rPr lang="en-US" dirty="0"/>
              <a:t> cuts, bruises, etc.</a:t>
            </a:r>
          </a:p>
          <a:p>
            <a:r>
              <a:rPr lang="en-US" dirty="0"/>
              <a:t>From this visual, we can see that 64.53% of accidents are fatal, 25.03% are serious and 10.44% are minor.</a:t>
            </a:r>
          </a:p>
          <a:p>
            <a:r>
              <a:rPr lang="en-US" dirty="0"/>
              <a:t>The states that contributed the most to the fatal percentage through the years are Bauchi, Niger, FCT, Ogun, Kaduna, Nasarawa, Kano, Oyo, Kogi in no particular order.</a:t>
            </a:r>
          </a:p>
          <a:p>
            <a:r>
              <a:rPr lang="en-US" dirty="0"/>
              <a:t> </a:t>
            </a:r>
          </a:p>
        </p:txBody>
      </p:sp>
    </p:spTree>
    <p:extLst>
      <p:ext uri="{BB962C8B-B14F-4D97-AF65-F5344CB8AC3E}">
        <p14:creationId xmlns:p14="http://schemas.microsoft.com/office/powerpoint/2010/main" val="3108638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6CC1-7B5C-BD4B-1F1F-F9A08C84D70F}"/>
              </a:ext>
            </a:extLst>
          </p:cNvPr>
          <p:cNvSpPr>
            <a:spLocks noGrp="1"/>
          </p:cNvSpPr>
          <p:nvPr>
            <p:ph type="title"/>
          </p:nvPr>
        </p:nvSpPr>
        <p:spPr/>
        <p:txBody>
          <a:bodyPr/>
          <a:lstStyle/>
          <a:p>
            <a:r>
              <a:rPr lang="en-US" dirty="0"/>
              <a:t>INSIGHT AND VISUALIZATION 7</a:t>
            </a:r>
          </a:p>
        </p:txBody>
      </p:sp>
      <p:pic>
        <p:nvPicPr>
          <p:cNvPr id="6" name="Content Placeholder 5">
            <a:extLst>
              <a:ext uri="{FF2B5EF4-FFF2-40B4-BE49-F238E27FC236}">
                <a16:creationId xmlns:a16="http://schemas.microsoft.com/office/drawing/2014/main" id="{E7DAD601-13FC-35C5-85CB-5C297BD0893E}"/>
              </a:ext>
            </a:extLst>
          </p:cNvPr>
          <p:cNvPicPr>
            <a:picLocks noGrp="1" noChangeAspect="1"/>
          </p:cNvPicPr>
          <p:nvPr>
            <p:ph idx="1"/>
          </p:nvPr>
        </p:nvPicPr>
        <p:blipFill>
          <a:blip r:embed="rId2"/>
          <a:stretch>
            <a:fillRect/>
          </a:stretch>
        </p:blipFill>
        <p:spPr>
          <a:xfrm>
            <a:off x="5487250" y="2505456"/>
            <a:ext cx="6332228" cy="3599317"/>
          </a:xfrm>
          <a:prstGeom prst="rect">
            <a:avLst/>
          </a:prstGeom>
        </p:spPr>
      </p:pic>
      <p:sp>
        <p:nvSpPr>
          <p:cNvPr id="4" name="Text Placeholder 3">
            <a:extLst>
              <a:ext uri="{FF2B5EF4-FFF2-40B4-BE49-F238E27FC236}">
                <a16:creationId xmlns:a16="http://schemas.microsoft.com/office/drawing/2014/main" id="{5CF33AA0-BF35-2526-9C8A-6612754EBF9A}"/>
              </a:ext>
            </a:extLst>
          </p:cNvPr>
          <p:cNvSpPr>
            <a:spLocks noGrp="1"/>
          </p:cNvSpPr>
          <p:nvPr>
            <p:ph type="body" sz="half" idx="2"/>
          </p:nvPr>
        </p:nvSpPr>
        <p:spPr/>
        <p:txBody>
          <a:bodyPr>
            <a:normAutofit lnSpcReduction="10000"/>
          </a:bodyPr>
          <a:lstStyle/>
          <a:p>
            <a:r>
              <a:rPr lang="en-US" dirty="0"/>
              <a:t>From this line graph, the year with the highest number of people involved in road accident is 2022, it increased from 83390 in 2021 to 89143 in 2022 and then it took a dip in 2023 to 70091 and </a:t>
            </a:r>
            <a:r>
              <a:rPr lang="en-US" dirty="0" err="1"/>
              <a:t>futher</a:t>
            </a:r>
            <a:r>
              <a:rPr lang="en-US" dirty="0"/>
              <a:t> decreased in 2024 to 50258, bearing in mind that this data ends in Q3 2024. Q4 2022 recorded 3617 crashes higher than prior quarters. Speeding, wrongful overtaking, dangerous driving, night journeys(fatigue), overloading, and mobile phone use are identified as the major causes. Seasonal and regional effects also come in play, the –ember months and zones like North-central , Lagos, </a:t>
            </a:r>
            <a:r>
              <a:rPr lang="en-US" dirty="0" err="1"/>
              <a:t>etc</a:t>
            </a:r>
            <a:r>
              <a:rPr lang="en-US" dirty="0"/>
              <a:t> show spikes.</a:t>
            </a:r>
          </a:p>
        </p:txBody>
      </p:sp>
    </p:spTree>
    <p:extLst>
      <p:ext uri="{BB962C8B-B14F-4D97-AF65-F5344CB8AC3E}">
        <p14:creationId xmlns:p14="http://schemas.microsoft.com/office/powerpoint/2010/main" val="2034007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D839F-9944-EEED-80EA-9161F086F667}"/>
              </a:ext>
            </a:extLst>
          </p:cNvPr>
          <p:cNvSpPr>
            <a:spLocks noGrp="1"/>
          </p:cNvSpPr>
          <p:nvPr>
            <p:ph type="title"/>
          </p:nvPr>
        </p:nvSpPr>
        <p:spPr/>
        <p:txBody>
          <a:bodyPr/>
          <a:lstStyle/>
          <a:p>
            <a:r>
              <a:rPr lang="en-US" dirty="0"/>
              <a:t>INSIGHT AND VISUALIZATION 8</a:t>
            </a:r>
          </a:p>
        </p:txBody>
      </p:sp>
      <p:pic>
        <p:nvPicPr>
          <p:cNvPr id="6" name="Content Placeholder 5">
            <a:extLst>
              <a:ext uri="{FF2B5EF4-FFF2-40B4-BE49-F238E27FC236}">
                <a16:creationId xmlns:a16="http://schemas.microsoft.com/office/drawing/2014/main" id="{D51CE04F-A614-9DBE-A07C-DD52E3AF7BA4}"/>
              </a:ext>
            </a:extLst>
          </p:cNvPr>
          <p:cNvPicPr>
            <a:picLocks noGrp="1" noChangeAspect="1"/>
          </p:cNvPicPr>
          <p:nvPr>
            <p:ph idx="1"/>
          </p:nvPr>
        </p:nvPicPr>
        <p:blipFill>
          <a:blip r:embed="rId2"/>
          <a:stretch>
            <a:fillRect/>
          </a:stretch>
        </p:blipFill>
        <p:spPr>
          <a:xfrm>
            <a:off x="6743033" y="2336873"/>
            <a:ext cx="4319708" cy="3419350"/>
          </a:xfrm>
          <a:prstGeom prst="rect">
            <a:avLst/>
          </a:prstGeom>
        </p:spPr>
      </p:pic>
      <p:sp>
        <p:nvSpPr>
          <p:cNvPr id="4" name="Text Placeholder 3">
            <a:extLst>
              <a:ext uri="{FF2B5EF4-FFF2-40B4-BE49-F238E27FC236}">
                <a16:creationId xmlns:a16="http://schemas.microsoft.com/office/drawing/2014/main" id="{B52D4FC6-5F6B-4FB4-E7B3-89D7F7EBEE05}"/>
              </a:ext>
            </a:extLst>
          </p:cNvPr>
          <p:cNvSpPr>
            <a:spLocks noGrp="1"/>
          </p:cNvSpPr>
          <p:nvPr>
            <p:ph type="body" sz="half" idx="2"/>
          </p:nvPr>
        </p:nvSpPr>
        <p:spPr/>
        <p:txBody>
          <a:bodyPr/>
          <a:lstStyle/>
          <a:p>
            <a:r>
              <a:rPr lang="en-US" dirty="0"/>
              <a:t>Total number of people involved in road accidents in Nigeria from Q4 2020 to Q3 2024 was 314,550 people. 21,668 number of people was involved in Q4 2020, in the year 2021 total number of people involved was 83,390, in 2022, 89143 number of people was involved and in 2023, 70091 number of people was involved while in 2024 Q1-Q3, 50258 number of people were involved.</a:t>
            </a:r>
          </a:p>
        </p:txBody>
      </p:sp>
    </p:spTree>
    <p:extLst>
      <p:ext uri="{BB962C8B-B14F-4D97-AF65-F5344CB8AC3E}">
        <p14:creationId xmlns:p14="http://schemas.microsoft.com/office/powerpoint/2010/main" val="854175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AE75-DE17-7A14-CB2A-1A465D6D14D1}"/>
              </a:ext>
            </a:extLst>
          </p:cNvPr>
          <p:cNvSpPr>
            <a:spLocks noGrp="1"/>
          </p:cNvSpPr>
          <p:nvPr>
            <p:ph type="title"/>
          </p:nvPr>
        </p:nvSpPr>
        <p:spPr/>
        <p:txBody>
          <a:bodyPr/>
          <a:lstStyle/>
          <a:p>
            <a:r>
              <a:rPr lang="en-US" dirty="0"/>
              <a:t>PUBLIC AWARENESS DASHBOARD (1)</a:t>
            </a:r>
          </a:p>
        </p:txBody>
      </p:sp>
      <p:pic>
        <p:nvPicPr>
          <p:cNvPr id="4" name="Picture 3">
            <a:extLst>
              <a:ext uri="{FF2B5EF4-FFF2-40B4-BE49-F238E27FC236}">
                <a16:creationId xmlns:a16="http://schemas.microsoft.com/office/drawing/2014/main" id="{A09AE81B-0AF0-E844-A3C0-AE9374138C44}"/>
              </a:ext>
            </a:extLst>
          </p:cNvPr>
          <p:cNvPicPr>
            <a:picLocks noChangeAspect="1"/>
          </p:cNvPicPr>
          <p:nvPr/>
        </p:nvPicPr>
        <p:blipFill>
          <a:blip r:embed="rId2"/>
          <a:stretch>
            <a:fillRect/>
          </a:stretch>
        </p:blipFill>
        <p:spPr>
          <a:xfrm>
            <a:off x="314793" y="2010851"/>
            <a:ext cx="11107712" cy="4725059"/>
          </a:xfrm>
          <a:prstGeom prst="rect">
            <a:avLst/>
          </a:prstGeom>
        </p:spPr>
      </p:pic>
    </p:spTree>
    <p:extLst>
      <p:ext uri="{BB962C8B-B14F-4D97-AF65-F5344CB8AC3E}">
        <p14:creationId xmlns:p14="http://schemas.microsoft.com/office/powerpoint/2010/main" val="909707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8739D-3F8F-0BD6-ED51-B64AA7116C8D}"/>
              </a:ext>
            </a:extLst>
          </p:cNvPr>
          <p:cNvSpPr>
            <a:spLocks noGrp="1"/>
          </p:cNvSpPr>
          <p:nvPr>
            <p:ph type="title"/>
          </p:nvPr>
        </p:nvSpPr>
        <p:spPr/>
        <p:txBody>
          <a:bodyPr/>
          <a:lstStyle/>
          <a:p>
            <a:r>
              <a:rPr lang="en-US" dirty="0"/>
              <a:t>PUBLIC AWARENESS DASHBOARD (2)</a:t>
            </a:r>
          </a:p>
        </p:txBody>
      </p:sp>
      <p:pic>
        <p:nvPicPr>
          <p:cNvPr id="4" name="Picture 3">
            <a:extLst>
              <a:ext uri="{FF2B5EF4-FFF2-40B4-BE49-F238E27FC236}">
                <a16:creationId xmlns:a16="http://schemas.microsoft.com/office/drawing/2014/main" id="{5B8C2F72-15A8-CD9D-969F-245A500491AC}"/>
              </a:ext>
            </a:extLst>
          </p:cNvPr>
          <p:cNvPicPr>
            <a:picLocks noChangeAspect="1"/>
          </p:cNvPicPr>
          <p:nvPr/>
        </p:nvPicPr>
        <p:blipFill>
          <a:blip r:embed="rId2"/>
          <a:stretch>
            <a:fillRect/>
          </a:stretch>
        </p:blipFill>
        <p:spPr>
          <a:xfrm>
            <a:off x="554637" y="2038662"/>
            <a:ext cx="10643015" cy="4819338"/>
          </a:xfrm>
          <a:prstGeom prst="rect">
            <a:avLst/>
          </a:prstGeom>
        </p:spPr>
      </p:pic>
    </p:spTree>
    <p:extLst>
      <p:ext uri="{BB962C8B-B14F-4D97-AF65-F5344CB8AC3E}">
        <p14:creationId xmlns:p14="http://schemas.microsoft.com/office/powerpoint/2010/main" val="3501859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3AEE-BDAA-A4A5-593F-273ABF3C3F4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9B54514-DC05-9018-6FD7-78915C7028D5}"/>
              </a:ext>
            </a:extLst>
          </p:cNvPr>
          <p:cNvSpPr>
            <a:spLocks noGrp="1"/>
          </p:cNvSpPr>
          <p:nvPr>
            <p:ph idx="1"/>
          </p:nvPr>
        </p:nvSpPr>
        <p:spPr>
          <a:xfrm>
            <a:off x="680321" y="2083633"/>
            <a:ext cx="9613861" cy="4774368"/>
          </a:xfrm>
        </p:spPr>
        <p:txBody>
          <a:bodyPr>
            <a:normAutofit fontScale="77500" lnSpcReduction="20000"/>
          </a:bodyPr>
          <a:lstStyle/>
          <a:p>
            <a:r>
              <a:rPr lang="en-US" dirty="0"/>
              <a:t>KEY FINDINGS</a:t>
            </a:r>
          </a:p>
          <a:p>
            <a:pPr marL="0" indent="0">
              <a:buNone/>
            </a:pPr>
            <a:r>
              <a:rPr lang="en-US" sz="1600" dirty="0"/>
              <a:t>-2022 recorded the highest number of people involved in road crashes in  the dataset, with increased proportions of serious and fatal injuries.</a:t>
            </a:r>
          </a:p>
          <a:p>
            <a:pPr marL="0" indent="0">
              <a:buNone/>
            </a:pPr>
            <a:r>
              <a:rPr lang="en-US" sz="1600" dirty="0"/>
              <a:t>-The largest proximate contributors were driver behaviors (speeding, wrongful overtaking, fatigue/night driving) and vehicle/road defects.</a:t>
            </a:r>
          </a:p>
          <a:p>
            <a:pPr>
              <a:buFontTx/>
              <a:buChar char="-"/>
            </a:pPr>
            <a:r>
              <a:rPr lang="en-US" sz="1600" dirty="0"/>
              <a:t>Geographic and seasonal clustering (ember-month spikes and hotspot states) amplified national totals.</a:t>
            </a:r>
          </a:p>
          <a:p>
            <a:pPr marL="0" indent="0">
              <a:buNone/>
            </a:pPr>
            <a:r>
              <a:rPr lang="en-US" sz="1600" dirty="0"/>
              <a:t> </a:t>
            </a:r>
            <a:r>
              <a:rPr lang="en-US" dirty="0"/>
              <a:t>IMPLICATIONS</a:t>
            </a:r>
          </a:p>
          <a:p>
            <a:pPr marL="0" indent="0">
              <a:buNone/>
            </a:pPr>
            <a:r>
              <a:rPr lang="en-US" dirty="0"/>
              <a:t>-</a:t>
            </a:r>
            <a:r>
              <a:rPr lang="en-US" sz="1600" dirty="0"/>
              <a:t>Human factors(behavior &amp; enforcement) are the most addressable short-term drivers of crash and fatalities.</a:t>
            </a:r>
          </a:p>
          <a:p>
            <a:pPr marL="0" indent="0">
              <a:buNone/>
            </a:pPr>
            <a:r>
              <a:rPr lang="en-US" dirty="0"/>
              <a:t>-</a:t>
            </a:r>
            <a:r>
              <a:rPr lang="en-US" sz="1600" dirty="0"/>
              <a:t>Infrastructure and vehicle maintenance gaps increase crash severity and limit survivability.</a:t>
            </a:r>
          </a:p>
          <a:p>
            <a:pPr marL="0" indent="0">
              <a:buNone/>
            </a:pPr>
            <a:r>
              <a:rPr lang="en-US" dirty="0"/>
              <a:t>PRIORITY RECOMMENDATIONS</a:t>
            </a:r>
          </a:p>
          <a:p>
            <a:pPr marL="0" indent="0">
              <a:buNone/>
            </a:pPr>
            <a:r>
              <a:rPr lang="en-US" dirty="0"/>
              <a:t>-</a:t>
            </a:r>
            <a:r>
              <a:rPr lang="en-US" sz="1600" dirty="0"/>
              <a:t>Strengthen targeted enforcement on speed, overtaking and night long-haul trips(high-risks corridor and ember months)</a:t>
            </a:r>
          </a:p>
          <a:p>
            <a:pPr marL="0" indent="0">
              <a:buNone/>
            </a:pPr>
            <a:r>
              <a:rPr lang="en-US" dirty="0"/>
              <a:t>-</a:t>
            </a:r>
            <a:r>
              <a:rPr lang="en-US" sz="1600" dirty="0"/>
              <a:t>Launch focused public awareness campaigns on speeding, seat-use and safe overtaking timed before high-risk months.</a:t>
            </a:r>
          </a:p>
          <a:p>
            <a:pPr marL="0" indent="0">
              <a:buNone/>
            </a:pPr>
            <a:r>
              <a:rPr lang="en-US" dirty="0"/>
              <a:t>-</a:t>
            </a:r>
            <a:r>
              <a:rPr lang="en-US" sz="1600" dirty="0"/>
              <a:t>Accelerate road repair and signage on identified hotspots; enforce vehicle roadworthiness checks for commercial fleets</a:t>
            </a:r>
          </a:p>
          <a:p>
            <a:pPr marL="0" indent="0">
              <a:buNone/>
            </a:pPr>
            <a:r>
              <a:rPr lang="en-US" dirty="0"/>
              <a:t>-</a:t>
            </a:r>
            <a:r>
              <a:rPr lang="en-US" sz="1600" dirty="0"/>
              <a:t>Improve post-crash response (EMS access, trauma stabilization) in high-fatality zones</a:t>
            </a:r>
          </a:p>
          <a:p>
            <a:pPr marL="0" indent="0">
              <a:buNone/>
            </a:pPr>
            <a:r>
              <a:rPr lang="en-US" dirty="0"/>
              <a:t>-</a:t>
            </a:r>
            <a:r>
              <a:rPr lang="en-US" sz="1600" dirty="0"/>
              <a:t>Include a data-quality improvement plan; standardize reporting fields and monitor completeness year-over-year</a:t>
            </a:r>
            <a:endParaRPr lang="en-US" sz="2800" dirty="0"/>
          </a:p>
        </p:txBody>
      </p:sp>
    </p:spTree>
    <p:extLst>
      <p:ext uri="{BB962C8B-B14F-4D97-AF65-F5344CB8AC3E}">
        <p14:creationId xmlns:p14="http://schemas.microsoft.com/office/powerpoint/2010/main" val="3163553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CAD2C-A02D-7E68-5C39-D3C7C88F7F83}"/>
              </a:ext>
            </a:extLst>
          </p:cNvPr>
          <p:cNvSpPr>
            <a:spLocks noGrp="1"/>
          </p:cNvSpPr>
          <p:nvPr>
            <p:ph type="title"/>
          </p:nvPr>
        </p:nvSpPr>
        <p:spPr/>
        <p:txBody>
          <a:bodyPr/>
          <a:lstStyle/>
          <a:p>
            <a:r>
              <a:rPr lang="en-US" dirty="0"/>
              <a:t>RECOMMENDATIONS</a:t>
            </a:r>
          </a:p>
        </p:txBody>
      </p:sp>
      <p:sp>
        <p:nvSpPr>
          <p:cNvPr id="7" name="Content Placeholder 6">
            <a:extLst>
              <a:ext uri="{FF2B5EF4-FFF2-40B4-BE49-F238E27FC236}">
                <a16:creationId xmlns:a16="http://schemas.microsoft.com/office/drawing/2014/main" id="{90CB8609-D987-BC5B-C43B-245C79B7A8B1}"/>
              </a:ext>
            </a:extLst>
          </p:cNvPr>
          <p:cNvSpPr>
            <a:spLocks noGrp="1"/>
          </p:cNvSpPr>
          <p:nvPr>
            <p:ph idx="1"/>
          </p:nvPr>
        </p:nvSpPr>
        <p:spPr>
          <a:xfrm>
            <a:off x="680321" y="2128602"/>
            <a:ext cx="9613861" cy="4452079"/>
          </a:xfrm>
        </p:spPr>
        <p:txBody>
          <a:bodyPr>
            <a:normAutofit fontScale="92500" lnSpcReduction="20000"/>
          </a:bodyPr>
          <a:lstStyle/>
          <a:p>
            <a:r>
              <a:rPr lang="en-US" dirty="0"/>
              <a:t>SPEED MANAGEMENT: Enforce speed limiters, automated speed cameras, and speed bumps in high-risk areas.</a:t>
            </a:r>
          </a:p>
          <a:p>
            <a:r>
              <a:rPr lang="en-US" dirty="0"/>
              <a:t>DRIVER DISCIPLINE: Apply stricter penalties for speeding, dangerous driving, and signal violations.</a:t>
            </a:r>
          </a:p>
          <a:p>
            <a:r>
              <a:rPr lang="en-US" dirty="0"/>
              <a:t>VEHICL SAFETY: Ensure regular inspections to prevent </a:t>
            </a:r>
            <a:r>
              <a:rPr lang="en-US" dirty="0" err="1"/>
              <a:t>tyre</a:t>
            </a:r>
            <a:r>
              <a:rPr lang="en-US" dirty="0"/>
              <a:t> bursts and brake failures.</a:t>
            </a:r>
          </a:p>
          <a:p>
            <a:r>
              <a:rPr lang="en-US" dirty="0"/>
              <a:t>ROAD ENGINEERING: Improve signage, lighting, and clear road obstructions to enhance visibility and safety.</a:t>
            </a:r>
          </a:p>
          <a:p>
            <a:r>
              <a:rPr lang="en-US" dirty="0"/>
              <a:t>PUBLIC AWARENESS: Sustain nationwide campaigns on road safety and responsible driving behavior.</a:t>
            </a:r>
          </a:p>
          <a:p>
            <a:r>
              <a:rPr lang="en-US" dirty="0"/>
              <a:t>DATA-DRIVEN ENFORCEMENT: Leverage FRSC and GIS data to monitor hotspots and plan targeted interventions.</a:t>
            </a:r>
          </a:p>
          <a:p>
            <a:pPr marL="0" indent="0">
              <a:buNone/>
            </a:pPr>
            <a:r>
              <a:rPr lang="en-US" dirty="0"/>
              <a:t>--Collective enforcement, engineering, and education can significantly reduce road traffic accidents in Nigeria</a:t>
            </a:r>
          </a:p>
        </p:txBody>
      </p:sp>
    </p:spTree>
    <p:extLst>
      <p:ext uri="{BB962C8B-B14F-4D97-AF65-F5344CB8AC3E}">
        <p14:creationId xmlns:p14="http://schemas.microsoft.com/office/powerpoint/2010/main" val="1172389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4235E7-8042-D0E6-350E-E349249C29C5}"/>
              </a:ext>
            </a:extLst>
          </p:cNvPr>
          <p:cNvPicPr>
            <a:picLocks noChangeAspect="1"/>
          </p:cNvPicPr>
          <p:nvPr/>
        </p:nvPicPr>
        <p:blipFill>
          <a:blip r:embed="rId2"/>
          <a:stretch>
            <a:fillRect/>
          </a:stretch>
        </p:blipFill>
        <p:spPr>
          <a:xfrm>
            <a:off x="1199213" y="589434"/>
            <a:ext cx="8802818" cy="6036218"/>
          </a:xfrm>
          <a:prstGeom prst="rect">
            <a:avLst/>
          </a:prstGeom>
        </p:spPr>
      </p:pic>
    </p:spTree>
    <p:extLst>
      <p:ext uri="{BB962C8B-B14F-4D97-AF65-F5344CB8AC3E}">
        <p14:creationId xmlns:p14="http://schemas.microsoft.com/office/powerpoint/2010/main" val="3687326796"/>
      </p:ext>
    </p:extLst>
  </p:cSld>
  <p:clrMapOvr>
    <a:masterClrMapping/>
  </p:clrMapOvr>
</p:sld>
</file>

<file path=ppt/theme/theme1.xml><?xml version="1.0" encoding="utf-8"?>
<a:theme xmlns:a="http://schemas.openxmlformats.org/drawingml/2006/main" name="Berli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648</TotalTime>
  <Words>1573</Words>
  <Application>Microsoft Office PowerPoint</Application>
  <PresentationFormat>Widescreen</PresentationFormat>
  <Paragraphs>76</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Trebuchet MS</vt:lpstr>
      <vt:lpstr>Berlin</vt:lpstr>
      <vt:lpstr>ROAD TRAFFIC ACCIDENTS IN NIGERIA: DATA-DRIVEN PUBLIC AWARENESS PROJECT  BY  HELEN OREOLUWA MEDASE </vt:lpstr>
      <vt:lpstr>INTRODUCTION</vt:lpstr>
      <vt:lpstr>OBJECTIVES</vt:lpstr>
      <vt:lpstr>DATASET AND TOOLS USED</vt:lpstr>
      <vt:lpstr>INSIGHT AND VISUALIZATION 1</vt:lpstr>
      <vt:lpstr>INSIGHT AND VISUALIZATION 2</vt:lpstr>
      <vt:lpstr>INSIGHT AND VISUALIZATION 3</vt:lpstr>
      <vt:lpstr>INSIGHT AND VISUALIZATION 4</vt:lpstr>
      <vt:lpstr>INSIGHT AND VISUALIZATION 5</vt:lpstr>
      <vt:lpstr>INSIGHT AND VISUALIZATION 6</vt:lpstr>
      <vt:lpstr>INSIGHT AND VISUALIZATION 7</vt:lpstr>
      <vt:lpstr>INSIGHT AND VISUALIZATION 8</vt:lpstr>
      <vt:lpstr>PUBLIC AWARENESS DASHBOARD (1)</vt:lpstr>
      <vt:lpstr>PUBLIC AWARENESS DASHBOARD (2)</vt:lpstr>
      <vt:lpstr>CONCLUSION</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5</cp:revision>
  <dcterms:created xsi:type="dcterms:W3CDTF">2025-10-25T16:28:36Z</dcterms:created>
  <dcterms:modified xsi:type="dcterms:W3CDTF">2025-10-31T22:33:59Z</dcterms:modified>
</cp:coreProperties>
</file>